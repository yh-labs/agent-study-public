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132320" y="-457200"/>
            <a:ext cx="2743200" cy="2743200"/>
          </a:xfrm>
          <a:prstGeom prst="ellipse">
            <a:avLst/>
          </a:prstGeom>
          <a:solidFill>
            <a:srgbClr val="00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0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2C39A"/>
                </a:solidFill>
              </a:rPr>
              <a:t>Product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반려동물 건강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웹앱 서비스</a:t>
            </a:r>
          </a:p>
        </p:txBody>
      </p:sp>
      <p:sp>
        <p:nvSpPr>
          <p:cNvPr id="8" name="Block Arc 7"/>
          <p:cNvSpPr/>
          <p:nvPr/>
        </p:nvSpPr>
        <p:spPr>
          <a:xfrm>
            <a:off x="731520" y="2971800"/>
            <a:ext cx="4572000" cy="0"/>
          </a:xfrm>
          <a:prstGeom prst="blockArc">
            <a:avLst/>
          </a:prstGeom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E4EA"/>
                </a:solidFill>
              </a:rPr>
              <a:t>2026.05.19 ~ 2026.07.22   |   9주 프로젝트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657600"/>
            <a:ext cx="1371600" cy="320040"/>
          </a:xfrm>
          <a:prstGeom prst="rect">
            <a:avLst/>
          </a:prstGeom>
          <a:solidFill>
            <a:srgbClr val="01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666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E4EA"/>
                </a:solidFill>
              </a:rPr>
              <a:t>React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80" y="3657600"/>
            <a:ext cx="1371600" cy="320040"/>
          </a:xfrm>
          <a:prstGeom prst="rect">
            <a:avLst/>
          </a:prstGeom>
          <a:solidFill>
            <a:srgbClr val="01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3666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E4EA"/>
                </a:solidFill>
              </a:rPr>
              <a:t>Express.js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39" y="3657600"/>
            <a:ext cx="1371600" cy="320040"/>
          </a:xfrm>
          <a:prstGeom prst="rect">
            <a:avLst/>
          </a:prstGeom>
          <a:solidFill>
            <a:srgbClr val="01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39" y="3666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E4EA"/>
                </a:solidFill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799" y="3657600"/>
            <a:ext cx="1371600" cy="320040"/>
          </a:xfrm>
          <a:prstGeom prst="rect">
            <a:avLst/>
          </a:prstGeom>
          <a:solidFill>
            <a:srgbClr val="01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799" y="3666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E4EA"/>
                </a:solidFill>
              </a:rPr>
              <a:t>Supabase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59" y="3657600"/>
            <a:ext cx="1371600" cy="320040"/>
          </a:xfrm>
          <a:prstGeom prst="rect">
            <a:avLst/>
          </a:prstGeom>
          <a:solidFill>
            <a:srgbClr val="01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59" y="36667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2E4EA"/>
                </a:solidFill>
              </a:rPr>
              <a:t>Vercel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프로젝트 개요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40080"/>
            <a:ext cx="45720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40080"/>
            <a:ext cx="64008" cy="1463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704088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28090"/>
                </a:solidFill>
              </a:rPr>
              <a:t>서비스 한 줄 요약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1005840"/>
            <a:ext cx="4343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</a:rPr>
              <a:t>강아지·고양이 보호자가 반려동물의 데일리 체중·음수량을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</a:rPr>
              <a:t>간편하게 기록하고, 월간 건강 리포트로 장기 추이를 확인하는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E293B"/>
                </a:solidFill>
              </a:rPr>
              <a:t>PWA 웹앱 서비스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640080"/>
            <a:ext cx="14173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66360" y="667512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프로젝트명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37960" y="640080"/>
            <a:ext cx="2331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667512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반려동물 건강 기록 웹앱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042415"/>
            <a:ext cx="14173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1069848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기간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1042415"/>
            <a:ext cx="2331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069848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9주 (2026-05-19 ~ 2026-07-22)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20640" y="1444751"/>
            <a:ext cx="14173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472184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팀 구성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444751"/>
            <a:ext cx="2331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472184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PM 1 · 기획 1 · 디자인 1 · 개발 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1847088"/>
            <a:ext cx="14173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874519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기술 스택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847088"/>
            <a:ext cx="2331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874519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React/Vite · Express.js · PostgreSQL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2249424"/>
            <a:ext cx="14173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60" y="2276856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배포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2249424"/>
            <a:ext cx="2331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2276856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Vercel (프론트 + API 통합)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2651760"/>
            <a:ext cx="1417320" cy="38404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66360" y="2679191"/>
            <a:ext cx="1325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데이터베이스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2651760"/>
            <a:ext cx="233172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679191"/>
            <a:ext cx="2240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Supabase (PostgreSQL + Storage)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114800"/>
            <a:ext cx="27432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1330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1분 기록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453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E4EA"/>
                </a:solidFill>
              </a:rPr>
              <a:t>매일 1분 이내  체중·음수량 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0" y="4114800"/>
            <a:ext cx="27432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91840" y="41330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자동 분석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453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E4EA"/>
                </a:solidFill>
              </a:rPr>
              <a:t>월간 리포트로  이상 징후 인지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4114800"/>
            <a:ext cx="2743200" cy="8229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41330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병원 공유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4531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2E4EA"/>
                </a:solidFill>
              </a:rPr>
              <a:t>동물병원 방문 시  건강 이력 제공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배경 및 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</a:rPr>
              <a:t>문제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54864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33271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반려동물 체중 급변·수분 섭취 이상은 질병 초기 징후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72768"/>
            <a:ext cx="54864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→ 대부분의 보호자가 수기 관리하거나 아예 기록하지 않음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139696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139696"/>
            <a:ext cx="54864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3931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동물병원 방문 시 최근 이력 제시 불가 → 진단 어려움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640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28090"/>
                </a:solidFill>
              </a:rPr>
              <a:t>목표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100584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1005840"/>
            <a:ext cx="54864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1033271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매일 1분 이내 체중·음수량 기록 가능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572768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1572768"/>
            <a:ext cx="54864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600200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월간 리포트로 보호자 스스로 이상 징후 인지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139696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0" y="2139696"/>
            <a:ext cx="54864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2167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동물병원 방문 시 공유 가능한 건강 이력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971800"/>
            <a:ext cx="8595360" cy="960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2999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플랫폼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26440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PWA / Chrome 90+
Safari 14+ / Firefox 90+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03120" y="2999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응답속도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26440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기록 저장 ≤ 1초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2999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오프라인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326440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Service Worker
자동 동기화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999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보안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26440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건강 데이터
암호화 저장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2999232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데이터보존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3264408"/>
            <a:ext cx="1600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탈퇴 후 30일
보관 후 삭제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대상 사용자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40080"/>
            <a:ext cx="26517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640080"/>
            <a:ext cx="265176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667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1차 타겟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</a:rPr>
              <a:t>강아지·고양이를 키우는
20–40대 보호자</a:t>
            </a:r>
          </a:p>
        </p:txBody>
      </p:sp>
      <p:sp>
        <p:nvSpPr>
          <p:cNvPr id="8" name="Block Arc 7"/>
          <p:cNvSpPr/>
          <p:nvPr/>
        </p:nvSpPr>
        <p:spPr>
          <a:xfrm>
            <a:off x="594359" y="2331720"/>
            <a:ext cx="2103120" cy="0"/>
          </a:xfrm>
          <a:prstGeom prst="blockArc">
            <a:avLst/>
          </a:prstGeom>
          <a:ln w="19050">
            <a:solidFill>
              <a:srgbClr val="E0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핵심 타겟 — 앱 친숙도 높고
일상 건강 관리 수요 있음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640080"/>
            <a:ext cx="26517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640080"/>
            <a:ext cx="2651760" cy="5029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667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2차 타겟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</a:rPr>
              <a:t>노령견·노령묘
보호자</a:t>
            </a:r>
          </a:p>
        </p:txBody>
      </p:sp>
      <p:sp>
        <p:nvSpPr>
          <p:cNvPr id="14" name="Block Arc 13"/>
          <p:cNvSpPr/>
          <p:nvPr/>
        </p:nvSpPr>
        <p:spPr>
          <a:xfrm>
            <a:off x="3474720" y="2331720"/>
            <a:ext cx="2103120" cy="0"/>
          </a:xfrm>
          <a:prstGeom prst="blockArc">
            <a:avLst/>
          </a:prstGeom>
          <a:ln w="19050">
            <a:solidFill>
              <a:srgbClr val="E0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건강 관리 수요 매우 높음
정기적 체크 필요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59" y="640080"/>
            <a:ext cx="2651760" cy="3931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59" y="640080"/>
            <a:ext cx="2651760" cy="5029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72199" y="667512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3차 타겟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199" y="128016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E293B"/>
                </a:solidFill>
              </a:rPr>
              <a:t>다두 가정
보호자</a:t>
            </a:r>
          </a:p>
        </p:txBody>
      </p:sp>
      <p:sp>
        <p:nvSpPr>
          <p:cNvPr id="20" name="Block Arc 19"/>
          <p:cNvSpPr/>
          <p:nvPr/>
        </p:nvSpPr>
        <p:spPr>
          <a:xfrm>
            <a:off x="6355079" y="2331720"/>
            <a:ext cx="2103120" cy="0"/>
          </a:xfrm>
          <a:prstGeom prst="blockArc">
            <a:avLst/>
          </a:prstGeom>
          <a:ln w="19050">
            <a:solidFill>
              <a:srgbClr val="E0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199" y="246888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멀티 펫 지원 니즈
각 반려동물 개별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72000"/>
            <a:ext cx="8595360" cy="411480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26070"/>
                </a:solidFill>
              </a:rPr>
              <a:t>런칭 3개월 목표   MAU 5,000   7일 리텐션 ≥ 40%   데일리 기록 완료율 ≥ 60%   리포트 열람율 ≥ 70%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핵심 기능 (1) — 반려동물 프로필 관리 + 데일리 체중 기록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21792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42062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반려동물 프로필 관리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931920" cy="530352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  ·  이름, 종, 품종, 생년월일, 성별, 중성화 여부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01368"/>
            <a:ext cx="3931920" cy="530352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28800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  ·  프로필 사진 업로드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459736"/>
            <a:ext cx="3931920" cy="530352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87168"/>
            <a:ext cx="3840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  ·  멀티 펫 지원 (다두 가정 대응)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154680"/>
            <a:ext cx="3931920" cy="141732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182112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반려동물 등록 예시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493008"/>
            <a:ext cx="731520" cy="292608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511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6070"/>
                </a:solidFill>
              </a:rPr>
              <a:t>이름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112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코코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493008"/>
            <a:ext cx="731520" cy="292608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3511296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6070"/>
                </a:solidFill>
              </a:rPr>
              <a:t>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51129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강아지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877056"/>
            <a:ext cx="731520" cy="292608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8953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6070"/>
                </a:solidFill>
              </a:rPr>
              <a:t>품종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38953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포메라니안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877056"/>
            <a:ext cx="731520" cy="292608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23160" y="3895344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6070"/>
                </a:solidFill>
              </a:rPr>
              <a:t>생년월일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3895344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2021-03-15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261104"/>
            <a:ext cx="731520" cy="292608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279392"/>
            <a:ext cx="731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6070"/>
                </a:solidFill>
              </a:rPr>
              <a:t>체중(최근)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279392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93B"/>
                </a:solidFill>
              </a:rPr>
              <a:t>3.2 kg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621792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663440" y="621792"/>
            <a:ext cx="42062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640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데일리 체중 기록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1143000"/>
            <a:ext cx="3931920" cy="41148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1161288"/>
            <a:ext cx="3840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날짜별 체중 입력 (kg, 소수점 1자리)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1645920"/>
            <a:ext cx="3931920" cy="41148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1664208"/>
            <a:ext cx="3840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최근 7일 추이 미니 차트 홈 노출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800600" y="2148840"/>
            <a:ext cx="3931920" cy="41148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0" y="2167128"/>
            <a:ext cx="3840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전일 대비 변화량 표시 (예: −0.2 kg ▼)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2651760"/>
            <a:ext cx="3931920" cy="41148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46320" y="2670048"/>
            <a:ext cx="384048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권장 체중 범위 표시 (품종·나이 기반)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218688"/>
            <a:ext cx="3931920" cy="132588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92040" y="324612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최근 7일 체중 추이 (예시)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3661954"/>
            <a:ext cx="384048" cy="452845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92040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92040" y="3460786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04104" y="3803468"/>
            <a:ext cx="384048" cy="311331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04104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04104" y="3602300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16168" y="3732711"/>
            <a:ext cx="384048" cy="38208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16168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16168" y="3531543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28231" y="3944982"/>
            <a:ext cx="384048" cy="169817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28231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금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28231" y="374381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40296" y="3874225"/>
            <a:ext cx="384048" cy="24057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940296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토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40296" y="367305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3.25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452360" y="3973285"/>
            <a:ext cx="384048" cy="141514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52360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일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52360" y="377211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3.18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64424" y="3944982"/>
            <a:ext cx="384048" cy="169817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64424" y="4133087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</a:rPr>
              <a:t>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964424" y="3743814"/>
            <a:ext cx="384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28090"/>
                </a:solidFill>
              </a:rPr>
              <a:t>3.2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핵심 기능 (2) — 데일리 음수량 기록 + 월간 건강 리포트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21792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420624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0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데일리 음수량 기록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143000"/>
            <a:ext cx="3931920" cy="42976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  ·  날짜별 음수량 입력 (ml 단위)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673352"/>
            <a:ext cx="3931920" cy="42976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00784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  ·  물그릇 용량 설정 → 잔여량 역산 지원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03704"/>
            <a:ext cx="3931920" cy="42976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31136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  ·  권장 음수량 범위 표시 (체중 기반)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34640"/>
            <a:ext cx="3931920" cy="169164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86207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</a:rPr>
              <a:t>권장 음수량 계산 예시 (체중 기반)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5468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E293B"/>
                </a:solidFill>
              </a:rPr>
              <a:t>체중 3.2 kg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20440"/>
            <a:ext cx="3566160" cy="3200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520440"/>
            <a:ext cx="2496312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8620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오늘 음수량: 224 ml / 권장 320 ml (70%)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621792"/>
            <a:ext cx="420624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621792"/>
            <a:ext cx="420624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00600" y="6400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월간 건강 리포트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00600" y="1143000"/>
            <a:ext cx="3931920" cy="38404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0" y="1161288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매월 1일 자동 생성 + 푸시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1618488"/>
            <a:ext cx="3931920" cy="38404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0" y="1636776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월간 평균 체중·음수량 및 전월 대비 변화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00600" y="2093976"/>
            <a:ext cx="3931920" cy="38404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112264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체중·음수량 라인 차트 (30일 추이)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2569464"/>
            <a:ext cx="3931920" cy="38404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0" y="2587752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이상 징후 강조 표시 (임계값 초과)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044952"/>
            <a:ext cx="3931920" cy="384048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30632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PDF 내보내기 및 공유 기능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3611880"/>
            <a:ext cx="3931920" cy="9144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92040" y="3639312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5월 건강 요약 (예시)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92040" y="39319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C39A"/>
                </a:solidFill>
              </a:rPr>
              <a:t>평균 체중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92040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3.24 kg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4074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E4EA"/>
                </a:solidFill>
              </a:rPr>
              <a:t>전월 대비 −0.05 kg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9319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2C39A"/>
                </a:solidFill>
              </a:rPr>
              <a:t>평균 음수량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4133087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298 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4074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E4EA"/>
                </a:solidFill>
              </a:rPr>
              <a:t>권장 320 ml 대비 93%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핵심 기능 (3) — 알림 + 사용자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21792"/>
            <a:ext cx="41148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21792"/>
            <a:ext cx="411480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640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기록 리마인더 알림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79" y="1143000"/>
            <a:ext cx="3840480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7043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매일 정해진 시간에 기록 리마인더 발송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79" y="1709928"/>
            <a:ext cx="3840480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보호자가 시간대 직접 설정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276856"/>
            <a:ext cx="3840480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30428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PWA Push Notification 활용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59" y="621792"/>
            <a:ext cx="41148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09159" y="621792"/>
            <a:ext cx="411480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6400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이상 징후 즉시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143000"/>
            <a:ext cx="3840480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92040" y="1170432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전일 대비 체중 10% 이상 변화 감지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1709928"/>
            <a:ext cx="3840480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17373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설정 임계값 초과 시 즉시 알림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276856"/>
            <a:ext cx="3840480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2304288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</a:rPr>
              <a:t>  ·  월간 리포트 자동 생성 알림 포함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20440"/>
            <a:ext cx="8595360" cy="32004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538728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사용자 흐름 (User Flow)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913632"/>
            <a:ext cx="987552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온보딩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07592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89888" y="3913632"/>
            <a:ext cx="987552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9888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프로필 등록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59736" y="3913632"/>
            <a:ext cx="987552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59736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홈 화면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47288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529584" y="3913632"/>
            <a:ext cx="987552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[+] 오늘 기록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7136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99431" y="3913632"/>
            <a:ext cx="987552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1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체중 입력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86983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79" y="3913632"/>
            <a:ext cx="987552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79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음수량 입력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56831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39127" y="3913632"/>
            <a:ext cx="987552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39127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저장 완료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26679" y="3950208"/>
            <a:ext cx="164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08975" y="3913632"/>
            <a:ext cx="987552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08975" y="3931920"/>
            <a:ext cx="987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</a:rPr>
              <a:t>월간 리포트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우선순위 (MoSCoW)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621792"/>
            <a:ext cx="2651760" cy="2926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621792"/>
            <a:ext cx="2651760" cy="4572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6400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" y="1170432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반려동물 프로필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737360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데일리 체중 기록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2304288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2257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데일리 음수량 기록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2871215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89504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월간 건강 리포트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54680" y="621792"/>
            <a:ext cx="2651760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54680" y="621792"/>
            <a:ext cx="2651760" cy="4572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6400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Should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64408" y="1170432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18872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기록 리마인더 알림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64408" y="1737360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175564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이상 징후 알림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64408" y="2304288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322576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PDF 내보내기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621792"/>
            <a:ext cx="26517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89320" y="621792"/>
            <a:ext cx="2651760" cy="4572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59" y="640080"/>
            <a:ext cx="2468879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Could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9048" y="1170432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1188720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다두 펫 지원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9048" y="1737360"/>
            <a:ext cx="2432304" cy="457200"/>
          </a:xfrm>
          <a:prstGeom prst="rect">
            <a:avLst/>
          </a:prstGeom>
          <a:solidFill>
            <a:srgbClr val="F0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1755648"/>
            <a:ext cx="2286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</a:rPr>
              <a:t>동물병원 공유 기능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434840"/>
            <a:ext cx="8595360" cy="502920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480560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26070"/>
                </a:solidFill>
              </a:rPr>
              <a:t>MVP 범위: Must 전체 포함 | Should는 단계적 적용 | Could는 v2 이후 검토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성공 지표 (KPI) — 런칭 후 3개월 기준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157276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1572768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77724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MAU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14300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8090"/>
                </a:solidFill>
              </a:rPr>
              <a:t>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28800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월간 활성 사용자</a:t>
            </a:r>
          </a:p>
        </p:txBody>
      </p:sp>
      <p:sp>
        <p:nvSpPr>
          <p:cNvPr id="9" name="Rectangle 8"/>
          <p:cNvSpPr/>
          <p:nvPr/>
        </p:nvSpPr>
        <p:spPr>
          <a:xfrm>
            <a:off x="1993391" y="685800"/>
            <a:ext cx="157276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93391" y="685800"/>
            <a:ext cx="1572768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39111" y="77724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7일 리텐션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39111" y="114300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8090"/>
                </a:solidFill>
              </a:rPr>
              <a:t>≥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39111" y="1828800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가입 후 1주일 재방문율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3" y="685800"/>
            <a:ext cx="157276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12463" y="685800"/>
            <a:ext cx="1572768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58183" y="77724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기록 완료율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58183" y="114300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8090"/>
                </a:solidFill>
              </a:rPr>
              <a:t>≥ 60%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3" y="1828800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활성 유저 데일리 기록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31536" y="685800"/>
            <a:ext cx="157276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31536" y="685800"/>
            <a:ext cx="1572768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77255" y="77724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리포트 열람율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77255" y="114300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8090"/>
                </a:solidFill>
              </a:rPr>
              <a:t>≥ 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77255" y="1828800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월간 리포트 오픈율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50607" y="685800"/>
            <a:ext cx="1572768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150607" y="685800"/>
            <a:ext cx="1572768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96327" y="777240"/>
            <a:ext cx="14813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8090"/>
                </a:solidFill>
              </a:rPr>
              <a:t>평점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7" y="1143000"/>
            <a:ext cx="14813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28090"/>
                </a:solidFill>
              </a:rPr>
              <a:t>≥ 4.2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7" y="1828800"/>
            <a:ext cx="14813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앱스토어 / 플레이스토어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00400"/>
            <a:ext cx="859536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461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측정 전략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58444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· MAU: Supabase Auth 기반 월간 로그인 사용자 집계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5876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· 7일 리텐션: 가입일 +7일 이내 재방문 세션 여부 추적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133087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· 기록 완료율: 활성 유저(최근 7일 로그인) 중 일일 기록 완료 비율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407408"/>
            <a:ext cx="8321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· 리포트 열람율: 월간 리포트 페이지 뷰 / 활성 유저 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출시 일정 및 마일스톤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685800"/>
            <a:ext cx="1402080" cy="59436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8912" y="777240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777240"/>
            <a:ext cx="7619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프로젝트 착수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59" y="7955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293B"/>
                </a:solidFill>
              </a:rPr>
              <a:t>2026-05-19   (1.5주)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90472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490472"/>
            <a:ext cx="14020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581912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81912"/>
            <a:ext cx="7619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기획·디자인 확정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59" y="160020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293B"/>
                </a:solidFill>
              </a:rPr>
              <a:t>2026-06-12   (1.5주)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295144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295144"/>
            <a:ext cx="2336800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386584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86584"/>
            <a:ext cx="16967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MVP 개발 (체중·음수량·리포트)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240487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293B"/>
                </a:solidFill>
              </a:rPr>
              <a:t>2026-07-05   (2.5주)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099816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099816"/>
            <a:ext cx="1402080" cy="59436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191256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191256"/>
            <a:ext cx="7619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QA &amp; 베타 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66559" y="32095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293B"/>
                </a:solidFill>
              </a:rPr>
              <a:t>2026-07-17   (1.5주)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04487"/>
            <a:ext cx="84124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904487"/>
            <a:ext cx="467359" cy="59436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995927"/>
            <a:ext cx="411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95927"/>
            <a:ext cx="-172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프로덕션 배포 출시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59" y="4014215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1E293B"/>
                </a:solidFill>
              </a:rPr>
              <a:t>2026-07-22   (0.5주)</a:t>
            </a:r>
          </a:p>
        </p:txBody>
      </p:sp>
      <p:sp>
        <p:nvSpPr>
          <p:cNvPr id="29" name="Block Arc 28"/>
          <p:cNvSpPr/>
          <p:nvPr/>
        </p:nvSpPr>
        <p:spPr>
          <a:xfrm>
            <a:off x="822960" y="658368"/>
            <a:ext cx="0" cy="4114800"/>
          </a:xfrm>
          <a:prstGeom prst="blockArc">
            <a:avLst/>
          </a:prstGeom>
          <a:ln w="19050">
            <a:solidFill>
              <a:srgbClr val="FF6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731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644"/>
                </a:solidFill>
              </a:rPr>
              <a:t>오늘 2026-05-28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45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미결 사항 (Open Items)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73152" cy="1828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77724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수익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16128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</a:rPr>
              <a:t>광고 기반 vs 구독 기반 결정 필요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비즈니스 모델 미확정 — 기획 단계에서 방향 결정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59" y="68580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59" y="685800"/>
            <a:ext cx="73152" cy="1828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10327" y="77724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수의사 계정 (B2B)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0327" y="116128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</a:rPr>
              <a:t>B2B 기능 범위 결정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7" y="150876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수의사 전용 계정 및 처방 이력 공유 기능 검토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69748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73152" cy="1828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278892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추가 기록 항목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317296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</a:rPr>
              <a:t>식사량, 배변 등 추가 여부 검토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52044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MVP 이후 단계에서 v2 요구사항으로 관리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09159" y="2697480"/>
            <a:ext cx="41148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09159" y="2697480"/>
            <a:ext cx="73152" cy="18288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7" y="2788920"/>
            <a:ext cx="3794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28090"/>
                </a:solidFill>
              </a:rPr>
              <a:t>소셜 로그인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10327" y="3172968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293B"/>
                </a:solidFill>
              </a:rPr>
              <a:t>카카오·애플·구글 제공 범위 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0327" y="3520440"/>
            <a:ext cx="3794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출시 전 법적 검토 및 UX 흐름 확정 필요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E0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690872"/>
            <a:ext cx="8321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6070"/>
                </a:solidFill>
              </a:rPr>
              <a:t>액션: 수익 모델과 소셜 로그인 범위를 M2(기획 확정) 전까지 결정합니다.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rgbClr val="006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02A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28016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Block Arc 5"/>
          <p:cNvSpPr/>
          <p:nvPr/>
        </p:nvSpPr>
        <p:spPr>
          <a:xfrm>
            <a:off x="2743200" y="2331720"/>
            <a:ext cx="3657600" cy="0"/>
          </a:xfrm>
          <a:prstGeom prst="blockArc">
            <a:avLst/>
          </a:prstGeom>
          <a:ln w="254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51460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2C39A"/>
                </a:solidFill>
              </a:rPr>
              <a:t>반려동물 건강 기록 웹앱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63240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E4EA"/>
                </a:solidFill>
              </a:rPr>
              <a:t>기간: 2026-05-19 ~ 2026-07-22 (9주)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410712"/>
            <a:ext cx="6400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E4EA"/>
                </a:solidFill>
              </a:rPr>
              <a:t>스택: React + Vite / Express.js / PostgreSQL (Supabase) /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